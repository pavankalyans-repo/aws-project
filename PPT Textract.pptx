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0" r:id="rId1"/>
  </p:sldMasterIdLst>
  <p:notesMasterIdLst>
    <p:notesMasterId r:id="rId20"/>
  </p:notesMasterIdLst>
  <p:sldIdLst>
    <p:sldId id="256" r:id="rId2"/>
    <p:sldId id="257" r:id="rId3"/>
    <p:sldId id="266" r:id="rId4"/>
    <p:sldId id="269" r:id="rId5"/>
    <p:sldId id="278" r:id="rId6"/>
    <p:sldId id="270" r:id="rId7"/>
    <p:sldId id="271" r:id="rId8"/>
    <p:sldId id="285" r:id="rId9"/>
    <p:sldId id="286" r:id="rId10"/>
    <p:sldId id="287" r:id="rId11"/>
    <p:sldId id="272" r:id="rId12"/>
    <p:sldId id="273" r:id="rId13"/>
    <p:sldId id="274" r:id="rId14"/>
    <p:sldId id="282" r:id="rId15"/>
    <p:sldId id="283" r:id="rId16"/>
    <p:sldId id="277" r:id="rId17"/>
    <p:sldId id="284" r:id="rId18"/>
    <p:sldId id="280"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80" autoAdjust="0"/>
    <p:restoredTop sz="94660"/>
  </p:normalViewPr>
  <p:slideViewPr>
    <p:cSldViewPr>
      <p:cViewPr varScale="1">
        <p:scale>
          <a:sx n="83" d="100"/>
          <a:sy n="83" d="100"/>
        </p:scale>
        <p:origin x="-1526" y="-7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7E2627D-0B21-4ADB-8A07-34FDDA86CA86}" type="datetimeFigureOut">
              <a:rPr lang="en-US" smtClean="0"/>
              <a:t>7/30/2024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5DC9F34-CB01-49E0-98A0-39EE7A611847}" type="slidenum">
              <a:rPr lang="en-US" smtClean="0"/>
              <a:t>‹#›</a:t>
            </a:fld>
            <a:endParaRPr lang="en-US"/>
          </a:p>
        </p:txBody>
      </p:sp>
    </p:spTree>
    <p:extLst>
      <p:ext uri="{BB962C8B-B14F-4D97-AF65-F5344CB8AC3E}">
        <p14:creationId xmlns:p14="http://schemas.microsoft.com/office/powerpoint/2010/main" val="19419756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5DC9F34-CB01-49E0-98A0-39EE7A611847}" type="slidenum">
              <a:rPr lang="en-US" smtClean="0"/>
              <a:t>1</a:t>
            </a:fld>
            <a:endParaRPr lang="en-US"/>
          </a:p>
        </p:txBody>
      </p:sp>
    </p:spTree>
    <p:extLst>
      <p:ext uri="{BB962C8B-B14F-4D97-AF65-F5344CB8AC3E}">
        <p14:creationId xmlns:p14="http://schemas.microsoft.com/office/powerpoint/2010/main" val="21331764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5DC9F34-CB01-49E0-98A0-39EE7A611847}" type="slidenum">
              <a:rPr lang="en-US" smtClean="0"/>
              <a:t>5</a:t>
            </a:fld>
            <a:endParaRPr lang="en-US"/>
          </a:p>
        </p:txBody>
      </p:sp>
    </p:spTree>
    <p:extLst>
      <p:ext uri="{BB962C8B-B14F-4D97-AF65-F5344CB8AC3E}">
        <p14:creationId xmlns:p14="http://schemas.microsoft.com/office/powerpoint/2010/main" val="40942276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BE019D09-1C9E-48EF-A6BF-DC22AFABDDE1}" type="datetimeFigureOut">
              <a:rPr lang="en-US" smtClean="0"/>
              <a:t>7/30/2024</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2D0832D7-6BCD-4877-B733-BAA7145AC059}"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BE019D09-1C9E-48EF-A6BF-DC22AFABDDE1}" type="datetimeFigureOut">
              <a:rPr lang="en-US" smtClean="0"/>
              <a:t>7/30/2024</a:t>
            </a:fld>
            <a:endParaRPr lang="en-US"/>
          </a:p>
        </p:txBody>
      </p:sp>
      <p:sp>
        <p:nvSpPr>
          <p:cNvPr id="9" name="Slide Number Placeholder 8"/>
          <p:cNvSpPr>
            <a:spLocks noGrp="1"/>
          </p:cNvSpPr>
          <p:nvPr>
            <p:ph type="sldNum" sz="quarter" idx="15"/>
          </p:nvPr>
        </p:nvSpPr>
        <p:spPr/>
        <p:txBody>
          <a:bodyPr rtlCol="0"/>
          <a:lstStyle/>
          <a:p>
            <a:fld id="{2D0832D7-6BCD-4877-B733-BAA7145AC059}" type="slidenum">
              <a:rPr lang="en-US" smtClean="0"/>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BE019D09-1C9E-48EF-A6BF-DC22AFABDDE1}" type="datetimeFigureOut">
              <a:rPr lang="en-US" smtClean="0"/>
              <a:t>7/30/2024</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2D0832D7-6BCD-4877-B733-BAA7145AC059}"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BE019D09-1C9E-48EF-A6BF-DC22AFABDDE1}" type="datetimeFigureOut">
              <a:rPr lang="en-US" smtClean="0"/>
              <a:t>7/30/2024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0832D7-6BCD-4877-B733-BAA7145AC059}" type="slidenum">
              <a:rPr lang="en-US" smtClean="0"/>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BE019D09-1C9E-48EF-A6BF-DC22AFABDDE1}" type="datetimeFigureOut">
              <a:rPr lang="en-US" smtClean="0"/>
              <a:t>7/30/2024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D0832D7-6BCD-4877-B733-BAA7145AC059}" type="slidenum">
              <a:rPr lang="en-US" smtClean="0"/>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BE019D09-1C9E-48EF-A6BF-DC22AFABDDE1}" type="datetimeFigureOut">
              <a:rPr lang="en-US" smtClean="0"/>
              <a:t>7/30/2024</a:t>
            </a:fld>
            <a:endParaRPr lang="en-US"/>
          </a:p>
        </p:txBody>
      </p:sp>
      <p:sp>
        <p:nvSpPr>
          <p:cNvPr id="7" name="Slide Number Placeholder 6"/>
          <p:cNvSpPr>
            <a:spLocks noGrp="1"/>
          </p:cNvSpPr>
          <p:nvPr>
            <p:ph type="sldNum" sz="quarter" idx="11"/>
          </p:nvPr>
        </p:nvSpPr>
        <p:spPr/>
        <p:txBody>
          <a:bodyPr rtlCol="0"/>
          <a:lstStyle/>
          <a:p>
            <a:fld id="{2D0832D7-6BCD-4877-B733-BAA7145AC059}" type="slidenum">
              <a:rPr lang="en-US" smtClean="0"/>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019D09-1C9E-48EF-A6BF-DC22AFABDDE1}" type="datetimeFigureOut">
              <a:rPr lang="en-US" smtClean="0"/>
              <a:t>7/30/2024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D0832D7-6BCD-4877-B733-BAA7145AC05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BE019D09-1C9E-48EF-A6BF-DC22AFABDDE1}" type="datetimeFigureOut">
              <a:rPr lang="en-US" smtClean="0"/>
              <a:t>7/30/2024</a:t>
            </a:fld>
            <a:endParaRPr lang="en-US"/>
          </a:p>
        </p:txBody>
      </p:sp>
      <p:sp>
        <p:nvSpPr>
          <p:cNvPr id="22" name="Slide Number Placeholder 21"/>
          <p:cNvSpPr>
            <a:spLocks noGrp="1"/>
          </p:cNvSpPr>
          <p:nvPr>
            <p:ph type="sldNum" sz="quarter" idx="15"/>
          </p:nvPr>
        </p:nvSpPr>
        <p:spPr/>
        <p:txBody>
          <a:bodyPr rtlCol="0"/>
          <a:lstStyle/>
          <a:p>
            <a:fld id="{2D0832D7-6BCD-4877-B733-BAA7145AC059}" type="slidenum">
              <a:rPr lang="en-US" smtClean="0"/>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BE019D09-1C9E-48EF-A6BF-DC22AFABDDE1}" type="datetimeFigureOut">
              <a:rPr lang="en-US" smtClean="0"/>
              <a:t>7/30/2024</a:t>
            </a:fld>
            <a:endParaRPr lang="en-US"/>
          </a:p>
        </p:txBody>
      </p:sp>
      <p:sp>
        <p:nvSpPr>
          <p:cNvPr id="18" name="Slide Number Placeholder 17"/>
          <p:cNvSpPr>
            <a:spLocks noGrp="1"/>
          </p:cNvSpPr>
          <p:nvPr>
            <p:ph type="sldNum" sz="quarter" idx="11"/>
          </p:nvPr>
        </p:nvSpPr>
        <p:spPr/>
        <p:txBody>
          <a:bodyPr rtlCol="0"/>
          <a:lstStyle/>
          <a:p>
            <a:fld id="{2D0832D7-6BCD-4877-B733-BAA7145AC059}" type="slidenum">
              <a:rPr lang="en-US" smtClean="0"/>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BE019D09-1C9E-48EF-A6BF-DC22AFABDDE1}" type="datetimeFigureOut">
              <a:rPr lang="en-US" smtClean="0"/>
              <a:t>7/30/2024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0832D7-6BCD-4877-B733-BAA7145AC05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BE019D09-1C9E-48EF-A6BF-DC22AFABDDE1}" type="datetimeFigureOut">
              <a:rPr lang="en-US" smtClean="0"/>
              <a:t>7/30/2024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0832D7-6BCD-4877-B733-BAA7145AC05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BE019D09-1C9E-48EF-A6BF-DC22AFABDDE1}" type="datetimeFigureOut">
              <a:rPr lang="en-US" smtClean="0"/>
              <a:t>7/30/2024</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2D0832D7-6BCD-4877-B733-BAA7145AC05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52600" y="914400"/>
            <a:ext cx="6172200" cy="1143000"/>
          </a:xfrm>
        </p:spPr>
        <p:txBody>
          <a:bodyPr/>
          <a:lstStyle/>
          <a:p>
            <a:pPr algn="ctr"/>
            <a:r>
              <a:rPr lang="en-US" sz="2800" smtClean="0">
                <a:solidFill>
                  <a:schemeClr val="accent2">
                    <a:lumMod val="75000"/>
                  </a:schemeClr>
                </a:solidFill>
                <a:effectLst>
                  <a:outerShdw blurRad="38100" dist="38100" dir="2700000" algn="tl">
                    <a:srgbClr val="000000">
                      <a:alpha val="43137"/>
                    </a:srgbClr>
                  </a:outerShdw>
                </a:effectLst>
                <a:cs typeface="Times New Roman" pitchFamily="18" charset="0"/>
              </a:rPr>
              <a:t>Conversion of an image into json file using aws textract</a:t>
            </a:r>
            <a:endParaRPr lang="en-US">
              <a:solidFill>
                <a:schemeClr val="tx1">
                  <a:lumMod val="95000"/>
                  <a:lumOff val="5000"/>
                </a:schemeClr>
              </a:solidFill>
              <a:latin typeface="Calisto MT" pitchFamily="18" charset="0"/>
            </a:endParaRPr>
          </a:p>
        </p:txBody>
      </p:sp>
      <p:sp>
        <p:nvSpPr>
          <p:cNvPr id="4" name="Rectangle 3"/>
          <p:cNvSpPr/>
          <p:nvPr/>
        </p:nvSpPr>
        <p:spPr>
          <a:xfrm>
            <a:off x="2438400" y="2616232"/>
            <a:ext cx="4639412" cy="369332"/>
          </a:xfrm>
          <a:prstGeom prst="rect">
            <a:avLst/>
          </a:prstGeom>
        </p:spPr>
        <p:txBody>
          <a:bodyPr wrap="none">
            <a:spAutoFit/>
          </a:bodyPr>
          <a:lstStyle/>
          <a:p>
            <a:r>
              <a:rPr lang="en-US" b="1" smtClean="0">
                <a:solidFill>
                  <a:srgbClr val="00B050"/>
                </a:solidFill>
              </a:rPr>
              <a:t>Instructor : Dr. Kevin (Qixiang) Pang</a:t>
            </a:r>
            <a:endParaRPr lang="en-US" b="1">
              <a:solidFill>
                <a:srgbClr val="00B050"/>
              </a:solidFill>
            </a:endParaRPr>
          </a:p>
        </p:txBody>
      </p:sp>
      <p:sp>
        <p:nvSpPr>
          <p:cNvPr id="5" name="Rectangle 4"/>
          <p:cNvSpPr/>
          <p:nvPr/>
        </p:nvSpPr>
        <p:spPr>
          <a:xfrm>
            <a:off x="2514600" y="3886200"/>
            <a:ext cx="4572000" cy="1477328"/>
          </a:xfrm>
          <a:prstGeom prst="rect">
            <a:avLst/>
          </a:prstGeom>
        </p:spPr>
        <p:txBody>
          <a:bodyPr>
            <a:spAutoFit/>
          </a:bodyPr>
          <a:lstStyle/>
          <a:p>
            <a:r>
              <a:rPr lang="en-US" b="1" i="1" u="sng" smtClean="0">
                <a:cs typeface="Times New Roman" pitchFamily="18" charset="0"/>
              </a:rPr>
              <a:t>Team members</a:t>
            </a:r>
            <a:endParaRPr lang="en-US" b="1" i="1" u="sng">
              <a:cs typeface="Times New Roman" pitchFamily="18" charset="0"/>
            </a:endParaRPr>
          </a:p>
          <a:p>
            <a:r>
              <a:rPr lang="en-US">
                <a:cs typeface="Times New Roman" pitchFamily="18" charset="0"/>
              </a:rPr>
              <a:t>Poojitha Manchi – </a:t>
            </a:r>
            <a:r>
              <a:rPr lang="en-US" smtClean="0">
                <a:cs typeface="Times New Roman" pitchFamily="18" charset="0"/>
              </a:rPr>
              <a:t>700758246</a:t>
            </a:r>
          </a:p>
          <a:p>
            <a:r>
              <a:rPr lang="en-US">
                <a:cs typeface="Times New Roman" pitchFamily="18" charset="0"/>
              </a:rPr>
              <a:t>Sai Vikas Peddina – </a:t>
            </a:r>
            <a:r>
              <a:rPr lang="en-US" smtClean="0">
                <a:cs typeface="Times New Roman" pitchFamily="18" charset="0"/>
              </a:rPr>
              <a:t>700761953</a:t>
            </a:r>
            <a:endParaRPr lang="en-US">
              <a:cs typeface="Times New Roman" pitchFamily="18" charset="0"/>
            </a:endParaRPr>
          </a:p>
          <a:p>
            <a:r>
              <a:rPr lang="en-US" smtClean="0">
                <a:cs typeface="Times New Roman" pitchFamily="18" charset="0"/>
              </a:rPr>
              <a:t>Pavankalyan </a:t>
            </a:r>
            <a:r>
              <a:rPr lang="en-US">
                <a:cs typeface="Times New Roman" pitchFamily="18" charset="0"/>
              </a:rPr>
              <a:t>Nagelli </a:t>
            </a:r>
            <a:r>
              <a:rPr lang="en-US" smtClean="0">
                <a:cs typeface="Times New Roman" pitchFamily="18" charset="0"/>
              </a:rPr>
              <a:t>– 700751765</a:t>
            </a:r>
          </a:p>
          <a:p>
            <a:r>
              <a:rPr lang="en-US" smtClean="0">
                <a:cs typeface="Times New Roman" pitchFamily="18" charset="0"/>
              </a:rPr>
              <a:t>Sannith Kumar Katla – 700757213</a:t>
            </a:r>
          </a:p>
        </p:txBody>
      </p:sp>
    </p:spTree>
    <p:extLst>
      <p:ext uri="{BB962C8B-B14F-4D97-AF65-F5344CB8AC3E}">
        <p14:creationId xmlns:p14="http://schemas.microsoft.com/office/powerpoint/2010/main" val="174869537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t>CONTENTS</a:t>
            </a:r>
            <a:endParaRPr lang="en-US"/>
          </a:p>
        </p:txBody>
      </p:sp>
      <p:sp>
        <p:nvSpPr>
          <p:cNvPr id="5" name="Rectangle 4"/>
          <p:cNvSpPr/>
          <p:nvPr/>
        </p:nvSpPr>
        <p:spPr>
          <a:xfrm>
            <a:off x="990600" y="1981200"/>
            <a:ext cx="6096000" cy="4154984"/>
          </a:xfrm>
          <a:prstGeom prst="rect">
            <a:avLst/>
          </a:prstGeom>
        </p:spPr>
        <p:txBody>
          <a:bodyPr wrap="square">
            <a:spAutoFit/>
          </a:bodyPr>
          <a:lstStyle/>
          <a:p>
            <a:pPr marL="342900" indent="-342900">
              <a:buFont typeface="+mj-lt"/>
              <a:buAutoNum type="arabicPeriod"/>
            </a:pPr>
            <a:r>
              <a:rPr lang="en-US" sz="2400" smtClean="0"/>
              <a:t>Introduction</a:t>
            </a:r>
          </a:p>
          <a:p>
            <a:pPr marL="342900" indent="-342900">
              <a:buFont typeface="+mj-lt"/>
              <a:buAutoNum type="arabicPeriod"/>
            </a:pPr>
            <a:r>
              <a:rPr lang="en-US" sz="2400" smtClean="0"/>
              <a:t>Architecture Overview</a:t>
            </a:r>
          </a:p>
          <a:p>
            <a:pPr marL="342900" indent="-342900">
              <a:buFont typeface="+mj-lt"/>
              <a:buAutoNum type="arabicPeriod"/>
            </a:pPr>
            <a:r>
              <a:rPr lang="en-US" sz="2400"/>
              <a:t>AWS services used</a:t>
            </a:r>
          </a:p>
          <a:p>
            <a:pPr marL="800100" lvl="1" indent="-342900">
              <a:buFont typeface="+mj-lt"/>
              <a:buAutoNum type="arabicPeriod"/>
            </a:pPr>
            <a:r>
              <a:rPr lang="en-US" sz="2400"/>
              <a:t>AWS Textract</a:t>
            </a:r>
          </a:p>
          <a:p>
            <a:pPr marL="800100" lvl="1" indent="-342900">
              <a:buFont typeface="+mj-lt"/>
              <a:buAutoNum type="arabicPeriod"/>
            </a:pPr>
            <a:r>
              <a:rPr lang="en-US" sz="2400"/>
              <a:t>S3 bucket</a:t>
            </a:r>
          </a:p>
          <a:p>
            <a:pPr marL="800100" lvl="1" indent="-342900">
              <a:buFont typeface="+mj-lt"/>
              <a:buAutoNum type="arabicPeriod"/>
            </a:pPr>
            <a:r>
              <a:rPr lang="en-US" sz="2400"/>
              <a:t>AWS Lambda</a:t>
            </a:r>
          </a:p>
          <a:p>
            <a:pPr marL="800100" lvl="1" indent="-342900">
              <a:buFont typeface="+mj-lt"/>
              <a:buAutoNum type="arabicPeriod"/>
            </a:pPr>
            <a:r>
              <a:rPr lang="en-US" sz="2400"/>
              <a:t>AWS </a:t>
            </a:r>
            <a:r>
              <a:rPr lang="en-US" sz="2400" smtClean="0"/>
              <a:t>CloudWatch</a:t>
            </a:r>
          </a:p>
          <a:p>
            <a:pPr marL="342900" indent="-342900">
              <a:buFont typeface="+mj-lt"/>
              <a:buAutoNum type="arabicPeriod"/>
            </a:pPr>
            <a:r>
              <a:rPr lang="en-US" sz="2400" smtClean="0"/>
              <a:t>Conclusion</a:t>
            </a:r>
          </a:p>
          <a:p>
            <a:pPr marL="342900" indent="-342900">
              <a:buFont typeface="+mj-lt"/>
              <a:buAutoNum type="arabicPeriod"/>
            </a:pPr>
            <a:endParaRPr lang="en-US" sz="2400" smtClean="0"/>
          </a:p>
          <a:p>
            <a:pPr lvl="1"/>
            <a:endParaRPr lang="en-US" sz="2400" smtClean="0"/>
          </a:p>
          <a:p>
            <a:pPr marL="800100" lvl="1" indent="-342900">
              <a:buFont typeface="+mj-lt"/>
              <a:buAutoNum type="arabicPeriod"/>
            </a:pPr>
            <a:endParaRPr lang="en-US" sz="2400" smtClean="0"/>
          </a:p>
        </p:txBody>
      </p:sp>
    </p:spTree>
    <p:extLst>
      <p:ext uri="{BB962C8B-B14F-4D97-AF65-F5344CB8AC3E}">
        <p14:creationId xmlns:p14="http://schemas.microsoft.com/office/powerpoint/2010/main" val="135355315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7467600" cy="808038"/>
          </a:xfrm>
        </p:spPr>
        <p:txBody>
          <a:bodyPr/>
          <a:lstStyle/>
          <a:p>
            <a:r>
              <a:rPr lang="en-US" b="1"/>
              <a:t>1. INTRODUCTION</a:t>
            </a:r>
            <a:endParaRPr lang="en-US"/>
          </a:p>
        </p:txBody>
      </p:sp>
      <p:pic>
        <p:nvPicPr>
          <p:cNvPr id="3" name="Picture 2"/>
          <p:cNvPicPr/>
          <p:nvPr/>
        </p:nvPicPr>
        <p:blipFill rotWithShape="1">
          <a:blip r:embed="rId2">
            <a:extLst>
              <a:ext uri="{28A0092B-C50C-407E-A947-70E740481C1C}">
                <a14:useLocalDpi xmlns:a14="http://schemas.microsoft.com/office/drawing/2010/main" val="0"/>
              </a:ext>
            </a:extLst>
          </a:blip>
          <a:srcRect l="32147" t="19151" b="17853"/>
          <a:stretch/>
        </p:blipFill>
        <p:spPr bwMode="auto">
          <a:xfrm>
            <a:off x="1612392" y="3926145"/>
            <a:ext cx="5257800" cy="1898583"/>
          </a:xfrm>
          <a:prstGeom prst="rect">
            <a:avLst/>
          </a:prstGeom>
          <a:ln>
            <a:noFill/>
          </a:ln>
          <a:extLst>
            <a:ext uri="{53640926-AAD7-44D8-BBD7-CCE9431645EC}">
              <a14:shadowObscured xmlns:a14="http://schemas.microsoft.com/office/drawing/2010/main"/>
            </a:ext>
          </a:extLst>
        </p:spPr>
      </p:pic>
      <p:sp>
        <p:nvSpPr>
          <p:cNvPr id="4" name="TextBox 3"/>
          <p:cNvSpPr txBox="1"/>
          <p:nvPr/>
        </p:nvSpPr>
        <p:spPr>
          <a:xfrm>
            <a:off x="990600" y="1371600"/>
            <a:ext cx="6781800" cy="2554545"/>
          </a:xfrm>
          <a:prstGeom prst="rect">
            <a:avLst/>
          </a:prstGeom>
          <a:noFill/>
        </p:spPr>
        <p:txBody>
          <a:bodyPr wrap="square" rtlCol="0">
            <a:spAutoFit/>
          </a:bodyPr>
          <a:lstStyle/>
          <a:p>
            <a:pPr algn="just"/>
            <a:r>
              <a:rPr lang="en-IN" sz="1600" smtClean="0"/>
              <a:t>	Our goal is </a:t>
            </a:r>
            <a:r>
              <a:rPr lang="en-IN" sz="1600"/>
              <a:t>to create a system that converts an image file (such as JPG, PNG and JPEG) into structured data format that is JSON, using Amazon Web Services (AWS) </a:t>
            </a:r>
            <a:r>
              <a:rPr lang="en-IN" sz="1600" smtClean="0"/>
              <a:t>Textract service. </a:t>
            </a:r>
            <a:r>
              <a:rPr lang="en-IN" sz="1600"/>
              <a:t>By utilizing Textract's advanced </a:t>
            </a:r>
            <a:r>
              <a:rPr lang="en-IN" sz="1600" smtClean="0"/>
              <a:t>Optical Character </a:t>
            </a:r>
            <a:r>
              <a:rPr lang="en-IN" sz="1600"/>
              <a:t>R</a:t>
            </a:r>
            <a:r>
              <a:rPr lang="en-IN" sz="1600" smtClean="0"/>
              <a:t>ecognition </a:t>
            </a:r>
            <a:r>
              <a:rPr lang="en-IN" sz="1600"/>
              <a:t>(OCR) capabilities, the system will extract text and data from these documents. This will facilitate seamless integration into various applications and workflows. The focus will be on achieving accurate and efficient conversion while ensuring the system remains flexible and scalable.</a:t>
            </a:r>
            <a:endParaRPr lang="en-US" sz="1600"/>
          </a:p>
          <a:p>
            <a:pPr algn="just"/>
            <a:endParaRPr lang="en-US" sz="1600"/>
          </a:p>
        </p:txBody>
      </p:sp>
      <p:sp>
        <p:nvSpPr>
          <p:cNvPr id="5" name="TextBox 4"/>
          <p:cNvSpPr txBox="1"/>
          <p:nvPr/>
        </p:nvSpPr>
        <p:spPr>
          <a:xfrm>
            <a:off x="2209800" y="5526762"/>
            <a:ext cx="1219200" cy="276999"/>
          </a:xfrm>
          <a:prstGeom prst="rect">
            <a:avLst/>
          </a:prstGeom>
          <a:noFill/>
        </p:spPr>
        <p:txBody>
          <a:bodyPr wrap="square" rtlCol="0">
            <a:spAutoFit/>
          </a:bodyPr>
          <a:lstStyle/>
          <a:p>
            <a:r>
              <a:rPr lang="en-US" sz="1200" b="1" smtClean="0">
                <a:solidFill>
                  <a:srgbClr val="FFFF00"/>
                </a:solidFill>
              </a:rPr>
              <a:t>image</a:t>
            </a:r>
            <a:endParaRPr lang="en-US" sz="1200" b="1">
              <a:solidFill>
                <a:srgbClr val="FFFF00"/>
              </a:solidFill>
            </a:endParaRPr>
          </a:p>
        </p:txBody>
      </p:sp>
      <p:sp>
        <p:nvSpPr>
          <p:cNvPr id="6" name="Rectangle 5"/>
          <p:cNvSpPr/>
          <p:nvPr/>
        </p:nvSpPr>
        <p:spPr>
          <a:xfrm>
            <a:off x="5029200" y="5526762"/>
            <a:ext cx="644728" cy="261610"/>
          </a:xfrm>
          <a:prstGeom prst="rect">
            <a:avLst/>
          </a:prstGeom>
        </p:spPr>
        <p:txBody>
          <a:bodyPr wrap="none">
            <a:spAutoFit/>
          </a:bodyPr>
          <a:lstStyle/>
          <a:p>
            <a:r>
              <a:rPr lang="en-US" sz="1100" b="1" smtClean="0">
                <a:solidFill>
                  <a:srgbClr val="FFFF00"/>
                </a:solidFill>
              </a:rPr>
              <a:t>JSON </a:t>
            </a:r>
            <a:endParaRPr lang="en-US" sz="1100" b="1">
              <a:solidFill>
                <a:srgbClr val="FFFF00"/>
              </a:solidFill>
            </a:endParaRPr>
          </a:p>
        </p:txBody>
      </p:sp>
    </p:spTree>
    <p:extLst>
      <p:ext uri="{BB962C8B-B14F-4D97-AF65-F5344CB8AC3E}">
        <p14:creationId xmlns:p14="http://schemas.microsoft.com/office/powerpoint/2010/main" val="8809747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6994" y="76200"/>
            <a:ext cx="7467600" cy="658368"/>
          </a:xfrm>
        </p:spPr>
        <p:txBody>
          <a:bodyPr/>
          <a:lstStyle/>
          <a:p>
            <a:pPr algn="ctr"/>
            <a:r>
              <a:rPr lang="en-US" smtClean="0"/>
              <a:t>Architecture overview</a:t>
            </a:r>
            <a:endParaRPr lang="en-US"/>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7798" r="5882" b="38145"/>
          <a:stretch/>
        </p:blipFill>
        <p:spPr bwMode="auto">
          <a:xfrm>
            <a:off x="3581400" y="1295400"/>
            <a:ext cx="1152526" cy="118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4000" t="2126" r="1574" b="2704"/>
          <a:stretch/>
        </p:blipFill>
        <p:spPr bwMode="auto">
          <a:xfrm>
            <a:off x="6421183" y="1274064"/>
            <a:ext cx="1394079" cy="118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3494" y="4572000"/>
            <a:ext cx="1191768"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4187" y="1274064"/>
            <a:ext cx="1152526"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ight Arrow 8"/>
          <p:cNvSpPr/>
          <p:nvPr/>
        </p:nvSpPr>
        <p:spPr>
          <a:xfrm>
            <a:off x="2057400" y="1676400"/>
            <a:ext cx="1219200" cy="381000"/>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4" name="Right Arrow 13"/>
          <p:cNvSpPr/>
          <p:nvPr/>
        </p:nvSpPr>
        <p:spPr>
          <a:xfrm>
            <a:off x="4953000" y="1676400"/>
            <a:ext cx="1295400" cy="381000"/>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5" name="Right Arrow 14"/>
          <p:cNvSpPr/>
          <p:nvPr/>
        </p:nvSpPr>
        <p:spPr>
          <a:xfrm rot="5400000">
            <a:off x="6381611" y="3493388"/>
            <a:ext cx="1572106" cy="381000"/>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6" name="Right Arrow 15"/>
          <p:cNvSpPr/>
          <p:nvPr/>
        </p:nvSpPr>
        <p:spPr>
          <a:xfrm rot="10800000">
            <a:off x="4480554" y="5195317"/>
            <a:ext cx="2081022" cy="381000"/>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ectangle 9"/>
          <p:cNvSpPr/>
          <p:nvPr/>
        </p:nvSpPr>
        <p:spPr>
          <a:xfrm>
            <a:off x="961636" y="2667000"/>
            <a:ext cx="745717" cy="369332"/>
          </a:xfrm>
          <a:prstGeom prst="rect">
            <a:avLst/>
          </a:prstGeom>
        </p:spPr>
        <p:txBody>
          <a:bodyPr wrap="none">
            <a:spAutoFit/>
          </a:bodyPr>
          <a:lstStyle/>
          <a:p>
            <a:r>
              <a:rPr lang="en-US" b="1">
                <a:solidFill>
                  <a:srgbClr val="C00000"/>
                </a:solidFill>
              </a:rPr>
              <a:t>User</a:t>
            </a:r>
          </a:p>
        </p:txBody>
      </p:sp>
      <p:sp>
        <p:nvSpPr>
          <p:cNvPr id="11" name="TextBox 10"/>
          <p:cNvSpPr txBox="1"/>
          <p:nvPr/>
        </p:nvSpPr>
        <p:spPr>
          <a:xfrm>
            <a:off x="3810000" y="2851666"/>
            <a:ext cx="1143000" cy="369332"/>
          </a:xfrm>
          <a:prstGeom prst="rect">
            <a:avLst/>
          </a:prstGeom>
          <a:noFill/>
        </p:spPr>
        <p:txBody>
          <a:bodyPr wrap="square" rtlCol="0">
            <a:spAutoFit/>
          </a:bodyPr>
          <a:lstStyle/>
          <a:p>
            <a:endParaRPr lang="en-US"/>
          </a:p>
        </p:txBody>
      </p:sp>
      <p:sp>
        <p:nvSpPr>
          <p:cNvPr id="12" name="TextBox 11"/>
          <p:cNvSpPr txBox="1"/>
          <p:nvPr/>
        </p:nvSpPr>
        <p:spPr>
          <a:xfrm>
            <a:off x="3505200" y="2667000"/>
            <a:ext cx="1447800" cy="369332"/>
          </a:xfrm>
          <a:prstGeom prst="rect">
            <a:avLst/>
          </a:prstGeom>
          <a:noFill/>
        </p:spPr>
        <p:txBody>
          <a:bodyPr wrap="square" rtlCol="0">
            <a:spAutoFit/>
          </a:bodyPr>
          <a:lstStyle/>
          <a:p>
            <a:r>
              <a:rPr lang="en-US" b="1" smtClean="0">
                <a:solidFill>
                  <a:srgbClr val="C00000"/>
                </a:solidFill>
              </a:rPr>
              <a:t>S3 bucket</a:t>
            </a:r>
            <a:endParaRPr lang="en-US" b="1">
              <a:solidFill>
                <a:srgbClr val="C00000"/>
              </a:solidFill>
            </a:endParaRPr>
          </a:p>
        </p:txBody>
      </p:sp>
      <p:sp>
        <p:nvSpPr>
          <p:cNvPr id="20" name="TextBox 19"/>
          <p:cNvSpPr txBox="1"/>
          <p:nvPr/>
        </p:nvSpPr>
        <p:spPr>
          <a:xfrm>
            <a:off x="6063144" y="2528500"/>
            <a:ext cx="2209038" cy="369332"/>
          </a:xfrm>
          <a:prstGeom prst="rect">
            <a:avLst/>
          </a:prstGeom>
          <a:noFill/>
        </p:spPr>
        <p:txBody>
          <a:bodyPr wrap="square" rtlCol="0">
            <a:spAutoFit/>
          </a:bodyPr>
          <a:lstStyle/>
          <a:p>
            <a:pPr algn="ctr"/>
            <a:r>
              <a:rPr lang="en-US" b="1" smtClean="0">
                <a:solidFill>
                  <a:srgbClr val="C00000"/>
                </a:solidFill>
              </a:rPr>
              <a:t>Lambda</a:t>
            </a:r>
            <a:endParaRPr lang="en-US" b="1">
              <a:solidFill>
                <a:srgbClr val="C00000"/>
              </a:solidFill>
            </a:endParaRPr>
          </a:p>
        </p:txBody>
      </p:sp>
      <p:sp>
        <p:nvSpPr>
          <p:cNvPr id="13" name="TextBox 12"/>
          <p:cNvSpPr txBox="1"/>
          <p:nvPr/>
        </p:nvSpPr>
        <p:spPr>
          <a:xfrm>
            <a:off x="2036064" y="2037324"/>
            <a:ext cx="1191767" cy="276999"/>
          </a:xfrm>
          <a:prstGeom prst="rect">
            <a:avLst/>
          </a:prstGeom>
          <a:noFill/>
        </p:spPr>
        <p:txBody>
          <a:bodyPr wrap="square" rtlCol="0">
            <a:spAutoFit/>
          </a:bodyPr>
          <a:lstStyle/>
          <a:p>
            <a:r>
              <a:rPr lang="en-US" sz="1200" smtClean="0"/>
              <a:t>Upload image</a:t>
            </a:r>
            <a:endParaRPr lang="en-US" sz="1200"/>
          </a:p>
        </p:txBody>
      </p:sp>
      <p:sp>
        <p:nvSpPr>
          <p:cNvPr id="17" name="Rectangle 16"/>
          <p:cNvSpPr/>
          <p:nvPr/>
        </p:nvSpPr>
        <p:spPr>
          <a:xfrm>
            <a:off x="5144251" y="2037325"/>
            <a:ext cx="753629" cy="276999"/>
          </a:xfrm>
          <a:prstGeom prst="rect">
            <a:avLst/>
          </a:prstGeom>
        </p:spPr>
        <p:txBody>
          <a:bodyPr wrap="square">
            <a:spAutoFit/>
          </a:bodyPr>
          <a:lstStyle/>
          <a:p>
            <a:r>
              <a:rPr lang="en-US" sz="1200" smtClean="0"/>
              <a:t>Trigger</a:t>
            </a:r>
            <a:endParaRPr lang="en-US" sz="1200"/>
          </a:p>
        </p:txBody>
      </p:sp>
      <p:sp>
        <p:nvSpPr>
          <p:cNvPr id="18" name="Rectangle 17"/>
          <p:cNvSpPr/>
          <p:nvPr/>
        </p:nvSpPr>
        <p:spPr>
          <a:xfrm>
            <a:off x="5823904" y="3545388"/>
            <a:ext cx="1194558" cy="276999"/>
          </a:xfrm>
          <a:prstGeom prst="rect">
            <a:avLst/>
          </a:prstGeom>
        </p:spPr>
        <p:txBody>
          <a:bodyPr wrap="none">
            <a:spAutoFit/>
          </a:bodyPr>
          <a:lstStyle/>
          <a:p>
            <a:r>
              <a:rPr lang="en-US" sz="1200" smtClean="0"/>
              <a:t>Calls Textract</a:t>
            </a:r>
            <a:endParaRPr lang="en-US" sz="1200"/>
          </a:p>
        </p:txBody>
      </p:sp>
      <p:sp>
        <p:nvSpPr>
          <p:cNvPr id="19" name="Rectangle 18"/>
          <p:cNvSpPr/>
          <p:nvPr/>
        </p:nvSpPr>
        <p:spPr>
          <a:xfrm>
            <a:off x="5192289" y="4980800"/>
            <a:ext cx="657552" cy="276999"/>
          </a:xfrm>
          <a:prstGeom prst="rect">
            <a:avLst/>
          </a:prstGeom>
        </p:spPr>
        <p:txBody>
          <a:bodyPr wrap="none">
            <a:spAutoFit/>
          </a:bodyPr>
          <a:lstStyle/>
          <a:p>
            <a:r>
              <a:rPr lang="en-US" sz="1200" smtClean="0"/>
              <a:t>output</a:t>
            </a:r>
            <a:endParaRPr lang="en-US" sz="1200"/>
          </a:p>
        </p:txBody>
      </p:sp>
      <p:pic>
        <p:nvPicPr>
          <p:cNvPr id="2054" name="Picture 6"/>
          <p:cNvPicPr>
            <a:picLocks noChangeAspect="1" noChangeArrowheads="1"/>
          </p:cNvPicPr>
          <p:nvPr/>
        </p:nvPicPr>
        <p:blipFill rotWithShape="1">
          <a:blip r:embed="rId6">
            <a:extLst>
              <a:ext uri="{28A0092B-C50C-407E-A947-70E740481C1C}">
                <a14:useLocalDpi xmlns:a14="http://schemas.microsoft.com/office/drawing/2010/main" val="0"/>
              </a:ext>
            </a:extLst>
          </a:blip>
          <a:srcRect t="1691" b="1"/>
          <a:stretch/>
        </p:blipFill>
        <p:spPr bwMode="auto">
          <a:xfrm>
            <a:off x="734187" y="4343399"/>
            <a:ext cx="3622929" cy="1828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9905170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smtClean="0"/>
              <a:t>2. AWS services used</a:t>
            </a:r>
            <a:endParaRPr lang="en-US"/>
          </a:p>
        </p:txBody>
      </p:sp>
      <p:sp>
        <p:nvSpPr>
          <p:cNvPr id="3" name="TextBox 2"/>
          <p:cNvSpPr txBox="1"/>
          <p:nvPr/>
        </p:nvSpPr>
        <p:spPr>
          <a:xfrm>
            <a:off x="1371600" y="2133600"/>
            <a:ext cx="6172200" cy="1200329"/>
          </a:xfrm>
          <a:prstGeom prst="rect">
            <a:avLst/>
          </a:prstGeom>
          <a:noFill/>
        </p:spPr>
        <p:txBody>
          <a:bodyPr wrap="square" rtlCol="0">
            <a:spAutoFit/>
          </a:bodyPr>
          <a:lstStyle/>
          <a:p>
            <a:pPr marL="285750" indent="-285750">
              <a:buFont typeface="Wingdings" pitchFamily="2" charset="2"/>
              <a:buChar char="Ø"/>
            </a:pPr>
            <a:r>
              <a:rPr lang="en-US" smtClean="0"/>
              <a:t>Simple </a:t>
            </a:r>
            <a:r>
              <a:rPr lang="en-US"/>
              <a:t>Storage Service(S3</a:t>
            </a:r>
            <a:r>
              <a:rPr lang="en-US" smtClean="0"/>
              <a:t>)</a:t>
            </a:r>
          </a:p>
          <a:p>
            <a:pPr marL="285750" indent="-285750">
              <a:buFont typeface="Wingdings" pitchFamily="2" charset="2"/>
              <a:buChar char="Ø"/>
            </a:pPr>
            <a:r>
              <a:rPr lang="en-US" smtClean="0"/>
              <a:t>AWS Lambda</a:t>
            </a:r>
          </a:p>
          <a:p>
            <a:pPr marL="285750" indent="-285750">
              <a:buFont typeface="Wingdings" pitchFamily="2" charset="2"/>
              <a:buChar char="Ø"/>
            </a:pPr>
            <a:r>
              <a:rPr lang="en-US" smtClean="0"/>
              <a:t>Textract </a:t>
            </a:r>
          </a:p>
          <a:p>
            <a:pPr marL="285750" indent="-285750">
              <a:buFont typeface="Wingdings" pitchFamily="2" charset="2"/>
              <a:buChar char="Ø"/>
            </a:pPr>
            <a:r>
              <a:rPr lang="en-US" smtClean="0"/>
              <a:t>CloudWatch</a:t>
            </a:r>
            <a:endParaRPr lang="en-US"/>
          </a:p>
        </p:txBody>
      </p:sp>
    </p:spTree>
    <p:extLst>
      <p:ext uri="{BB962C8B-B14F-4D97-AF65-F5344CB8AC3E}">
        <p14:creationId xmlns:p14="http://schemas.microsoft.com/office/powerpoint/2010/main" val="35413982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mtClean="0"/>
              <a:t>S3 bucket</a:t>
            </a:r>
            <a:endParaRPr lang="en-US"/>
          </a:p>
        </p:txBody>
      </p:sp>
      <p:sp>
        <p:nvSpPr>
          <p:cNvPr id="3" name="TextBox 2"/>
          <p:cNvSpPr txBox="1"/>
          <p:nvPr/>
        </p:nvSpPr>
        <p:spPr>
          <a:xfrm>
            <a:off x="304800" y="1447800"/>
            <a:ext cx="8458200" cy="4770537"/>
          </a:xfrm>
          <a:prstGeom prst="rect">
            <a:avLst/>
          </a:prstGeom>
          <a:noFill/>
        </p:spPr>
        <p:txBody>
          <a:bodyPr wrap="square" rtlCol="0">
            <a:spAutoFit/>
          </a:bodyPr>
          <a:lstStyle/>
          <a:p>
            <a:endParaRPr lang="en-US" sz="1600"/>
          </a:p>
          <a:p>
            <a:r>
              <a:rPr lang="en-US" sz="1600" b="1" smtClean="0"/>
              <a:t>Overview</a:t>
            </a:r>
            <a:endParaRPr lang="en-US" sz="1600" b="1"/>
          </a:p>
          <a:p>
            <a:pPr marL="285750" indent="-285750">
              <a:buFont typeface="Arial" pitchFamily="34" charset="0"/>
              <a:buChar char="•"/>
            </a:pPr>
            <a:r>
              <a:rPr lang="en-US" sz="1600" smtClean="0"/>
              <a:t>S3 </a:t>
            </a:r>
            <a:r>
              <a:rPr lang="en-US" sz="1600"/>
              <a:t>(Simple Storage Service</a:t>
            </a:r>
            <a:r>
              <a:rPr lang="en-US" sz="1600" smtClean="0"/>
              <a:t>): </a:t>
            </a:r>
            <a:r>
              <a:rPr lang="en-US" sz="1600"/>
              <a:t>Scalable, high-durability object storage service </a:t>
            </a:r>
            <a:r>
              <a:rPr lang="en-US" sz="1600" smtClean="0"/>
              <a:t>by AWS</a:t>
            </a:r>
            <a:r>
              <a:rPr lang="en-US" sz="1600"/>
              <a:t>.</a:t>
            </a:r>
          </a:p>
          <a:p>
            <a:endParaRPr lang="en-US" sz="1600"/>
          </a:p>
          <a:p>
            <a:r>
              <a:rPr lang="en-US" sz="1600" b="1" smtClean="0"/>
              <a:t>Key Features</a:t>
            </a:r>
            <a:endParaRPr lang="en-US" sz="1600" b="1"/>
          </a:p>
          <a:p>
            <a:pPr marL="285750" indent="-285750">
              <a:buFont typeface="Arial" pitchFamily="34" charset="0"/>
              <a:buChar char="•"/>
            </a:pPr>
            <a:r>
              <a:rPr lang="en-US" sz="1600" smtClean="0"/>
              <a:t>Scalability: </a:t>
            </a:r>
            <a:r>
              <a:rPr lang="en-US" sz="1600"/>
              <a:t>Automatically scales to handle large data volumes.</a:t>
            </a:r>
          </a:p>
          <a:p>
            <a:pPr marL="285750" indent="-285750">
              <a:buFont typeface="Arial" pitchFamily="34" charset="0"/>
              <a:buChar char="•"/>
            </a:pPr>
            <a:r>
              <a:rPr lang="en-US" sz="1600" smtClean="0"/>
              <a:t>Durability: </a:t>
            </a:r>
            <a:r>
              <a:rPr lang="en-US" sz="1600"/>
              <a:t>99.999999999% durability with data replication across multiple facilities.</a:t>
            </a:r>
          </a:p>
          <a:p>
            <a:pPr marL="285750" indent="-285750">
              <a:buFont typeface="Arial" pitchFamily="34" charset="0"/>
              <a:buChar char="•"/>
            </a:pPr>
            <a:r>
              <a:rPr lang="en-US" sz="1600" smtClean="0"/>
              <a:t>Availability : </a:t>
            </a:r>
            <a:r>
              <a:rPr lang="en-US" sz="1600"/>
              <a:t>High availability for data access anytime.</a:t>
            </a:r>
          </a:p>
          <a:p>
            <a:endParaRPr lang="en-US" sz="1600"/>
          </a:p>
          <a:p>
            <a:r>
              <a:rPr lang="en-US" sz="1600" b="1" smtClean="0"/>
              <a:t>Basic Components</a:t>
            </a:r>
            <a:endParaRPr lang="en-US" sz="1600" b="1"/>
          </a:p>
          <a:p>
            <a:pPr marL="285750" indent="-285750">
              <a:buFont typeface="Arial" pitchFamily="34" charset="0"/>
              <a:buChar char="•"/>
            </a:pPr>
            <a:r>
              <a:rPr lang="en-US" sz="1600" smtClean="0"/>
              <a:t>Buckets: </a:t>
            </a:r>
            <a:r>
              <a:rPr lang="en-US" sz="1600"/>
              <a:t>Containers for storing objects. Unique names globally.</a:t>
            </a:r>
          </a:p>
          <a:p>
            <a:pPr marL="285750" indent="-285750">
              <a:buFont typeface="Arial" pitchFamily="34" charset="0"/>
              <a:buChar char="•"/>
            </a:pPr>
            <a:r>
              <a:rPr lang="en-US" sz="1600" smtClean="0"/>
              <a:t>Objects: </a:t>
            </a:r>
            <a:r>
              <a:rPr lang="en-US" sz="1600"/>
              <a:t>Data files stored in buckets, each with a unique key.</a:t>
            </a:r>
          </a:p>
          <a:p>
            <a:pPr marL="285750" indent="-285750">
              <a:buFont typeface="Arial" pitchFamily="34" charset="0"/>
              <a:buChar char="•"/>
            </a:pPr>
            <a:r>
              <a:rPr lang="en-US" sz="1600" smtClean="0"/>
              <a:t>Regions: </a:t>
            </a:r>
            <a:r>
              <a:rPr lang="en-US" sz="1600"/>
              <a:t>Buckets are created in specific AWS regions for optimal latency and compliance.</a:t>
            </a:r>
          </a:p>
          <a:p>
            <a:endParaRPr lang="en-US" sz="1600"/>
          </a:p>
          <a:p>
            <a:r>
              <a:rPr lang="en-US" sz="1600" b="1" smtClean="0"/>
              <a:t>Usage Examples</a:t>
            </a:r>
            <a:endParaRPr lang="en-US" sz="1600" b="1"/>
          </a:p>
          <a:p>
            <a:pPr marL="285750" indent="-285750">
              <a:buFont typeface="Arial" pitchFamily="34" charset="0"/>
              <a:buChar char="•"/>
            </a:pPr>
            <a:r>
              <a:rPr lang="en-US" sz="1600" smtClean="0"/>
              <a:t>Backup </a:t>
            </a:r>
            <a:r>
              <a:rPr lang="en-US" sz="1600"/>
              <a:t>and </a:t>
            </a:r>
            <a:r>
              <a:rPr lang="en-US" sz="1600" smtClean="0"/>
              <a:t>Restore: </a:t>
            </a:r>
            <a:r>
              <a:rPr lang="en-US" sz="1600"/>
              <a:t>Secure, durable storage for backups.</a:t>
            </a:r>
          </a:p>
          <a:p>
            <a:pPr marL="285750" indent="-285750">
              <a:buFont typeface="Arial" pitchFamily="34" charset="0"/>
              <a:buChar char="•"/>
            </a:pPr>
            <a:r>
              <a:rPr lang="en-US" sz="1600" smtClean="0"/>
              <a:t>Data Archiving: </a:t>
            </a:r>
            <a:r>
              <a:rPr lang="en-US" sz="1600"/>
              <a:t>Cost-effective long-term storage.</a:t>
            </a:r>
          </a:p>
          <a:p>
            <a:pPr marL="285750" indent="-285750">
              <a:buFont typeface="Arial" pitchFamily="34" charset="0"/>
              <a:buChar char="•"/>
            </a:pPr>
            <a:r>
              <a:rPr lang="en-US" sz="1600" smtClean="0"/>
              <a:t>Content Distribution: </a:t>
            </a:r>
            <a:r>
              <a:rPr lang="en-US" sz="1600"/>
              <a:t>Hosting static websites and distributing media content</a:t>
            </a:r>
            <a:r>
              <a:rPr lang="en-US" sz="1600" smtClean="0"/>
              <a:t>.</a:t>
            </a:r>
            <a:endParaRPr lang="en-US" sz="1600"/>
          </a:p>
        </p:txBody>
      </p:sp>
      <p:pic>
        <p:nvPicPr>
          <p:cNvPr id="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7798" r="5882" b="38145"/>
          <a:stretch/>
        </p:blipFill>
        <p:spPr bwMode="auto">
          <a:xfrm>
            <a:off x="5562600" y="609600"/>
            <a:ext cx="1152526" cy="118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3585451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5968" y="381000"/>
            <a:ext cx="7467600" cy="731838"/>
          </a:xfrm>
        </p:spPr>
        <p:txBody>
          <a:bodyPr/>
          <a:lstStyle/>
          <a:p>
            <a:pPr algn="ctr"/>
            <a:r>
              <a:rPr lang="en-US" b="1" smtClean="0"/>
              <a:t>AWS LAMBDA</a:t>
            </a:r>
            <a:endParaRPr lang="en-US" b="1"/>
          </a:p>
        </p:txBody>
      </p:sp>
      <p:sp>
        <p:nvSpPr>
          <p:cNvPr id="3" name="TextBox 2"/>
          <p:cNvSpPr txBox="1"/>
          <p:nvPr/>
        </p:nvSpPr>
        <p:spPr>
          <a:xfrm>
            <a:off x="381000" y="1143000"/>
            <a:ext cx="8077200" cy="5478423"/>
          </a:xfrm>
          <a:prstGeom prst="rect">
            <a:avLst/>
          </a:prstGeom>
          <a:noFill/>
        </p:spPr>
        <p:txBody>
          <a:bodyPr wrap="square" rtlCol="0">
            <a:spAutoFit/>
          </a:bodyPr>
          <a:lstStyle/>
          <a:p>
            <a:endParaRPr lang="en-US" sz="1400"/>
          </a:p>
          <a:p>
            <a:r>
              <a:rPr lang="en-US" sz="1400" b="1" smtClean="0"/>
              <a:t>Overview</a:t>
            </a:r>
            <a:endParaRPr lang="en-US" sz="1400" b="1"/>
          </a:p>
          <a:p>
            <a:pPr marL="171450" indent="-171450">
              <a:buFont typeface="Arial" pitchFamily="34" charset="0"/>
              <a:buChar char="•"/>
            </a:pPr>
            <a:r>
              <a:rPr lang="en-US" sz="1400" smtClean="0"/>
              <a:t>Lambda : </a:t>
            </a:r>
            <a:r>
              <a:rPr lang="en-US" sz="1400"/>
              <a:t>Serverless compute service that runs code in response to events and automatically manages the underlying compute resources.</a:t>
            </a:r>
          </a:p>
          <a:p>
            <a:endParaRPr lang="en-US" sz="1400"/>
          </a:p>
          <a:p>
            <a:r>
              <a:rPr lang="en-US" sz="1400" b="1" smtClean="0"/>
              <a:t>Key Features</a:t>
            </a:r>
            <a:endParaRPr lang="en-US" sz="1400" b="1"/>
          </a:p>
          <a:p>
            <a:pPr marL="171450" indent="-171450">
              <a:buFont typeface="Arial" pitchFamily="34" charset="0"/>
              <a:buChar char="•"/>
            </a:pPr>
            <a:r>
              <a:rPr lang="en-US" sz="1400" smtClean="0"/>
              <a:t>Event-Driven: </a:t>
            </a:r>
            <a:r>
              <a:rPr lang="en-US" sz="1400"/>
              <a:t>Executes code in response to triggers such as changes in data, system state, or user actions.</a:t>
            </a:r>
          </a:p>
          <a:p>
            <a:pPr marL="171450" indent="-171450">
              <a:buFont typeface="Arial" pitchFamily="34" charset="0"/>
              <a:buChar char="•"/>
            </a:pPr>
            <a:r>
              <a:rPr lang="en-US" sz="1400" smtClean="0"/>
              <a:t>No </a:t>
            </a:r>
            <a:r>
              <a:rPr lang="en-US" sz="1400"/>
              <a:t>Server </a:t>
            </a:r>
            <a:r>
              <a:rPr lang="en-US" sz="1400" smtClean="0"/>
              <a:t>Management</a:t>
            </a:r>
            <a:r>
              <a:rPr lang="en-US" sz="1400"/>
              <a:t> </a:t>
            </a:r>
            <a:r>
              <a:rPr lang="en-US" sz="1400" smtClean="0"/>
              <a:t>: </a:t>
            </a:r>
            <a:r>
              <a:rPr lang="en-US" sz="1400"/>
              <a:t>Automatically handles infrastructure, so you only need to focus on your code.</a:t>
            </a:r>
          </a:p>
          <a:p>
            <a:pPr marL="171450" indent="-171450">
              <a:buFont typeface="Arial" pitchFamily="34" charset="0"/>
              <a:buChar char="•"/>
            </a:pPr>
            <a:r>
              <a:rPr lang="en-US" sz="1400" smtClean="0"/>
              <a:t>Scalability : </a:t>
            </a:r>
            <a:r>
              <a:rPr lang="en-US" sz="1400"/>
              <a:t>Automatically scales from a few requests per day to thousands per second.</a:t>
            </a:r>
          </a:p>
          <a:p>
            <a:endParaRPr lang="en-US" sz="1400"/>
          </a:p>
          <a:p>
            <a:r>
              <a:rPr lang="en-US" sz="1400" b="1" smtClean="0"/>
              <a:t>Basic Components</a:t>
            </a:r>
            <a:endParaRPr lang="en-US" sz="1400" b="1"/>
          </a:p>
          <a:p>
            <a:pPr marL="171450" indent="-171450">
              <a:buFont typeface="Arial" pitchFamily="34" charset="0"/>
              <a:buChar char="•"/>
            </a:pPr>
            <a:r>
              <a:rPr lang="en-US" sz="1400" smtClean="0"/>
              <a:t>Functions : </a:t>
            </a:r>
            <a:r>
              <a:rPr lang="en-US" sz="1400"/>
              <a:t>The code you run on AWS Lambda. Each function has its own configuration and environment.</a:t>
            </a:r>
          </a:p>
          <a:p>
            <a:pPr marL="171450" indent="-171450">
              <a:buFont typeface="Arial" pitchFamily="34" charset="0"/>
              <a:buChar char="•"/>
            </a:pPr>
            <a:r>
              <a:rPr lang="en-US" sz="1400" smtClean="0"/>
              <a:t>Triggers : </a:t>
            </a:r>
            <a:r>
              <a:rPr lang="en-US" sz="1400"/>
              <a:t>Events that cause a Lambda function to execute, such as HTTP requests, changes in an S3 bucket, or updates to a DynamoDB table.</a:t>
            </a:r>
          </a:p>
          <a:p>
            <a:pPr marL="171450" indent="-171450">
              <a:buFont typeface="Arial" pitchFamily="34" charset="0"/>
              <a:buChar char="•"/>
            </a:pPr>
            <a:r>
              <a:rPr lang="en-US" sz="1400" smtClean="0"/>
              <a:t>Execution Environment</a:t>
            </a:r>
            <a:r>
              <a:rPr lang="en-US" sz="1400"/>
              <a:t> </a:t>
            </a:r>
            <a:r>
              <a:rPr lang="en-US" sz="1400" smtClean="0"/>
              <a:t>: </a:t>
            </a:r>
            <a:r>
              <a:rPr lang="en-US" sz="1400"/>
              <a:t>The runtime environment in which your Lambda function executes, which includes the programming language runtime and other system libraries.</a:t>
            </a:r>
          </a:p>
          <a:p>
            <a:endParaRPr lang="en-US" sz="1400"/>
          </a:p>
          <a:p>
            <a:r>
              <a:rPr lang="en-US" sz="1400" b="1" smtClean="0"/>
              <a:t>Usage Examples</a:t>
            </a:r>
            <a:endParaRPr lang="en-US" sz="1400" b="1"/>
          </a:p>
          <a:p>
            <a:pPr marL="171450" indent="-171450">
              <a:buFont typeface="Arial" pitchFamily="34" charset="0"/>
              <a:buChar char="•"/>
            </a:pPr>
            <a:r>
              <a:rPr lang="en-US" sz="1400" smtClean="0"/>
              <a:t>Data Processing : </a:t>
            </a:r>
            <a:r>
              <a:rPr lang="en-US" sz="1400"/>
              <a:t>Real-time file processing, data transformation.</a:t>
            </a:r>
          </a:p>
          <a:p>
            <a:pPr marL="171450" indent="-171450">
              <a:buFont typeface="Arial" pitchFamily="34" charset="0"/>
              <a:buChar char="•"/>
            </a:pPr>
            <a:r>
              <a:rPr lang="en-US" sz="1400" smtClean="0"/>
              <a:t>Web Backends</a:t>
            </a:r>
            <a:r>
              <a:rPr lang="en-US" sz="1400"/>
              <a:t> </a:t>
            </a:r>
            <a:r>
              <a:rPr lang="en-US" sz="1400" smtClean="0"/>
              <a:t>: </a:t>
            </a:r>
            <a:r>
              <a:rPr lang="en-US" sz="1400"/>
              <a:t>Serve HTTP requests, APIs, and web applications.</a:t>
            </a:r>
          </a:p>
          <a:p>
            <a:pPr marL="171450" indent="-171450">
              <a:buFont typeface="Arial" pitchFamily="34" charset="0"/>
              <a:buChar char="•"/>
            </a:pPr>
            <a:r>
              <a:rPr lang="en-US" sz="1400" smtClean="0"/>
              <a:t>Automation : </a:t>
            </a:r>
            <a:r>
              <a:rPr lang="en-US" sz="1400"/>
              <a:t>Automate operational tasks, such as scheduled jobs, backups, and system monitoring</a:t>
            </a:r>
            <a:r>
              <a:rPr lang="en-US" sz="1400" smtClean="0"/>
              <a:t>.</a:t>
            </a:r>
            <a:endParaRPr lang="en-US" sz="1400"/>
          </a:p>
        </p:txBody>
      </p:sp>
      <p:pic>
        <p:nvPicPr>
          <p:cNvPr id="4"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4000" t="2126" r="1574" b="2704"/>
          <a:stretch/>
        </p:blipFill>
        <p:spPr bwMode="auto">
          <a:xfrm>
            <a:off x="6096000" y="304800"/>
            <a:ext cx="1394079" cy="118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6236247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smtClean="0"/>
              <a:t>Aws textract</a:t>
            </a:r>
            <a:endParaRPr lang="en-US" b="1"/>
          </a:p>
        </p:txBody>
      </p:sp>
      <p:sp>
        <p:nvSpPr>
          <p:cNvPr id="4" name="TextBox 3"/>
          <p:cNvSpPr txBox="1"/>
          <p:nvPr/>
        </p:nvSpPr>
        <p:spPr>
          <a:xfrm>
            <a:off x="533400" y="2057399"/>
            <a:ext cx="6019800" cy="3477875"/>
          </a:xfrm>
          <a:prstGeom prst="rect">
            <a:avLst/>
          </a:prstGeom>
          <a:noFill/>
        </p:spPr>
        <p:txBody>
          <a:bodyPr wrap="square" rtlCol="0">
            <a:spAutoFit/>
          </a:bodyPr>
          <a:lstStyle/>
          <a:p>
            <a:pPr algn="just"/>
            <a:r>
              <a:rPr lang="en-US" sz="2000" smtClean="0"/>
              <a:t>	In simple terms, the main purpose of AWS Textract is to help computers understand and extract text and data from scanned documents or images. It uses advanced technology to recognize the words and numbers in these documents, making it easier for computers to analyze and work with the information. Essentially, Textract helps turn pictures of text into usable digital data that computers can understand and process.</a:t>
            </a:r>
          </a:p>
          <a:p>
            <a:pPr algn="just"/>
            <a:endParaRPr lang="en-US" sz="2000"/>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3200" y="2209800"/>
            <a:ext cx="1981200"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0781994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mtClean="0"/>
              <a:t>Use cases of textract</a:t>
            </a:r>
            <a:endParaRPr lang="en-US"/>
          </a:p>
        </p:txBody>
      </p:sp>
      <p:sp>
        <p:nvSpPr>
          <p:cNvPr id="4" name="TextBox 3"/>
          <p:cNvSpPr txBox="1"/>
          <p:nvPr/>
        </p:nvSpPr>
        <p:spPr>
          <a:xfrm>
            <a:off x="457200" y="2133600"/>
            <a:ext cx="7772400" cy="4093428"/>
          </a:xfrm>
          <a:prstGeom prst="rect">
            <a:avLst/>
          </a:prstGeom>
          <a:noFill/>
        </p:spPr>
        <p:txBody>
          <a:bodyPr wrap="square" rtlCol="0">
            <a:spAutoFit/>
          </a:bodyPr>
          <a:lstStyle/>
          <a:p>
            <a:pPr algn="just"/>
            <a:r>
              <a:rPr lang="en-US" sz="2000" b="1" smtClean="0">
                <a:latin typeface="Times New Roman" panose="02020603050405020304" pitchFamily="18" charset="0"/>
                <a:cs typeface="Times New Roman" panose="02020603050405020304" pitchFamily="18" charset="0"/>
              </a:rPr>
              <a:t>Faster Document Handling</a:t>
            </a:r>
            <a:r>
              <a:rPr lang="en-US" sz="2000" smtClean="0">
                <a:latin typeface="Times New Roman" panose="02020603050405020304" pitchFamily="18" charset="0"/>
                <a:cs typeface="Times New Roman" panose="02020603050405020304" pitchFamily="18" charset="0"/>
              </a:rPr>
              <a:t>: Quickly organize and manage digital documents like invoices or receipts by extracting important details such as dates, amounts, and names.</a:t>
            </a:r>
          </a:p>
          <a:p>
            <a:pPr algn="just"/>
            <a:r>
              <a:rPr lang="en-US" sz="2000" b="1" smtClean="0">
                <a:latin typeface="Times New Roman" panose="02020603050405020304" pitchFamily="18" charset="0"/>
                <a:cs typeface="Times New Roman" panose="02020603050405020304" pitchFamily="18" charset="0"/>
              </a:rPr>
              <a:t>Easier Financial Analysis</a:t>
            </a:r>
            <a:r>
              <a:rPr lang="en-US" sz="2000" smtClean="0">
                <a:latin typeface="Times New Roman" panose="02020603050405020304" pitchFamily="18" charset="0"/>
                <a:cs typeface="Times New Roman" panose="02020603050405020304" pitchFamily="18" charset="0"/>
              </a:rPr>
              <a:t>: Analyze transaction records from bank statements to understand spending patterns or detect unusual activity.</a:t>
            </a:r>
          </a:p>
          <a:p>
            <a:pPr algn="just"/>
            <a:r>
              <a:rPr lang="en-US" sz="2000" b="1" smtClean="0">
                <a:latin typeface="Times New Roman" panose="02020603050405020304" pitchFamily="18" charset="0"/>
                <a:cs typeface="Times New Roman" panose="02020603050405020304" pitchFamily="18" charset="0"/>
              </a:rPr>
              <a:t>Improved Customer Service</a:t>
            </a:r>
            <a:r>
              <a:rPr lang="en-US" sz="2000" smtClean="0">
                <a:latin typeface="Times New Roman" panose="02020603050405020304" pitchFamily="18" charset="0"/>
                <a:cs typeface="Times New Roman" panose="02020603050405020304" pitchFamily="18" charset="0"/>
              </a:rPr>
              <a:t>: Retrieve relevant customer information from documents during calls to provide quicker and more personalized assistance.</a:t>
            </a:r>
          </a:p>
          <a:p>
            <a:pPr algn="just"/>
            <a:r>
              <a:rPr lang="en-US" sz="2000" b="1" smtClean="0">
                <a:latin typeface="Times New Roman" panose="02020603050405020304" pitchFamily="18" charset="0"/>
                <a:cs typeface="Times New Roman" panose="02020603050405020304" pitchFamily="18" charset="0"/>
              </a:rPr>
              <a:t>Efficient Healthcare Management</a:t>
            </a:r>
            <a:r>
              <a:rPr lang="en-US" sz="2000" smtClean="0">
                <a:latin typeface="Times New Roman" panose="02020603050405020304" pitchFamily="18" charset="0"/>
                <a:cs typeface="Times New Roman" panose="02020603050405020304" pitchFamily="18" charset="0"/>
              </a:rPr>
              <a:t>: Populate electronic health records with patient information extracted from medical forms for better patient care.</a:t>
            </a:r>
          </a:p>
          <a:p>
            <a:pPr algn="just"/>
            <a:endParaRPr lang="en-US" sz="2000" smtClean="0"/>
          </a:p>
          <a:p>
            <a:pPr algn="just"/>
            <a:endParaRPr lang="en-US" sz="2000"/>
          </a:p>
        </p:txBody>
      </p:sp>
    </p:spTree>
    <p:extLst>
      <p:ext uri="{BB962C8B-B14F-4D97-AF65-F5344CB8AC3E}">
        <p14:creationId xmlns:p14="http://schemas.microsoft.com/office/powerpoint/2010/main" val="384448086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mtClean="0"/>
              <a:t>Use cases of textract</a:t>
            </a:r>
            <a:endParaRPr lang="en-US"/>
          </a:p>
        </p:txBody>
      </p:sp>
      <p:sp>
        <p:nvSpPr>
          <p:cNvPr id="4" name="TextBox 3"/>
          <p:cNvSpPr txBox="1"/>
          <p:nvPr/>
        </p:nvSpPr>
        <p:spPr>
          <a:xfrm>
            <a:off x="457200" y="2133600"/>
            <a:ext cx="7772400" cy="2862322"/>
          </a:xfrm>
          <a:prstGeom prst="rect">
            <a:avLst/>
          </a:prstGeom>
          <a:noFill/>
        </p:spPr>
        <p:txBody>
          <a:bodyPr wrap="square" rtlCol="0">
            <a:spAutoFit/>
          </a:bodyPr>
          <a:lstStyle/>
          <a:p>
            <a:pPr algn="just"/>
            <a:r>
              <a:rPr lang="en-US" sz="2000" b="1">
                <a:latin typeface="Times New Roman" panose="02020603050405020304" pitchFamily="18" charset="0"/>
                <a:cs typeface="Times New Roman" panose="02020603050405020304" pitchFamily="18" charset="0"/>
              </a:rPr>
              <a:t>Streamlined Legal Processes</a:t>
            </a:r>
            <a:r>
              <a:rPr lang="en-US" sz="2000">
                <a:latin typeface="Times New Roman" panose="02020603050405020304" pitchFamily="18" charset="0"/>
                <a:cs typeface="Times New Roman" panose="02020603050405020304" pitchFamily="18" charset="0"/>
              </a:rPr>
              <a:t>: Analyze contracts to identify key terms or extract information for legal research or compliance purposes.</a:t>
            </a:r>
          </a:p>
          <a:p>
            <a:pPr algn="just"/>
            <a:r>
              <a:rPr lang="en-US" sz="2000" b="1">
                <a:latin typeface="Times New Roman" panose="02020603050405020304" pitchFamily="18" charset="0"/>
                <a:cs typeface="Times New Roman" panose="02020603050405020304" pitchFamily="18" charset="0"/>
              </a:rPr>
              <a:t>Better Retail Operations</a:t>
            </a:r>
            <a:r>
              <a:rPr lang="en-US" sz="2000">
                <a:latin typeface="Times New Roman" panose="02020603050405020304" pitchFamily="18" charset="0"/>
                <a:cs typeface="Times New Roman" panose="02020603050405020304" pitchFamily="18" charset="0"/>
              </a:rPr>
              <a:t>: Update inventory databases or analyze sales trends by extracting product information from catalogs or receipts.</a:t>
            </a:r>
          </a:p>
          <a:p>
            <a:pPr algn="just"/>
            <a:r>
              <a:rPr lang="en-US" sz="2000" b="1">
                <a:latin typeface="Times New Roman" panose="02020603050405020304" pitchFamily="18" charset="0"/>
                <a:cs typeface="Times New Roman" panose="02020603050405020304" pitchFamily="18" charset="0"/>
              </a:rPr>
              <a:t>Automated Grading</a:t>
            </a:r>
            <a:r>
              <a:rPr lang="en-US" sz="2000">
                <a:latin typeface="Times New Roman" panose="02020603050405020304" pitchFamily="18" charset="0"/>
                <a:cs typeface="Times New Roman" panose="02020603050405020304" pitchFamily="18" charset="0"/>
              </a:rPr>
              <a:t>: Grade exams more quickly by extracting scores from answer sheets and entering them into grading systems.</a:t>
            </a:r>
          </a:p>
          <a:p>
            <a:pPr algn="just"/>
            <a:r>
              <a:rPr lang="en-US" sz="2000" b="1">
                <a:latin typeface="Times New Roman" panose="02020603050405020304" pitchFamily="18" charset="0"/>
                <a:cs typeface="Times New Roman" panose="02020603050405020304" pitchFamily="18" charset="0"/>
              </a:rPr>
              <a:t>Simplified Research</a:t>
            </a:r>
            <a:r>
              <a:rPr lang="en-US" sz="2000">
                <a:latin typeface="Times New Roman" panose="02020603050405020304" pitchFamily="18" charset="0"/>
                <a:cs typeface="Times New Roman" panose="02020603050405020304" pitchFamily="18" charset="0"/>
              </a:rPr>
              <a:t>: Extract data from research papers or surveys for analysis and visualization in various research projects.</a:t>
            </a:r>
          </a:p>
          <a:p>
            <a:pPr algn="just"/>
            <a:endParaRPr lang="en-US" sz="2000"/>
          </a:p>
        </p:txBody>
      </p:sp>
    </p:spTree>
    <p:extLst>
      <p:ext uri="{BB962C8B-B14F-4D97-AF65-F5344CB8AC3E}">
        <p14:creationId xmlns:p14="http://schemas.microsoft.com/office/powerpoint/2010/main" val="327025097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7467600" cy="808038"/>
          </a:xfrm>
        </p:spPr>
        <p:txBody>
          <a:bodyPr/>
          <a:lstStyle/>
          <a:p>
            <a:pPr algn="ctr"/>
            <a:r>
              <a:rPr lang="en-US" b="1" smtClean="0"/>
              <a:t>EVENT JSON FOR AWS LAMBDA</a:t>
            </a:r>
            <a:endParaRPr lang="en-US" b="1"/>
          </a:p>
        </p:txBody>
      </p:sp>
      <p:sp>
        <p:nvSpPr>
          <p:cNvPr id="3" name="TextBox 2"/>
          <p:cNvSpPr txBox="1"/>
          <p:nvPr/>
        </p:nvSpPr>
        <p:spPr>
          <a:xfrm>
            <a:off x="381000" y="1066800"/>
            <a:ext cx="8305800" cy="5478423"/>
          </a:xfrm>
          <a:prstGeom prst="rect">
            <a:avLst/>
          </a:prstGeom>
          <a:noFill/>
        </p:spPr>
        <p:txBody>
          <a:bodyPr wrap="square" rtlCol="0">
            <a:spAutoFit/>
          </a:bodyPr>
          <a:lstStyle/>
          <a:p>
            <a:endParaRPr lang="en-US" sz="1400"/>
          </a:p>
          <a:p>
            <a:r>
              <a:rPr lang="en-US" sz="1400" b="1" smtClean="0"/>
              <a:t>Overview</a:t>
            </a:r>
            <a:endParaRPr lang="en-US" sz="1400" b="1"/>
          </a:p>
          <a:p>
            <a:pPr marL="742950" lvl="1" indent="-285750">
              <a:buFont typeface="Arial" pitchFamily="34" charset="0"/>
              <a:buChar char="•"/>
            </a:pPr>
            <a:r>
              <a:rPr lang="en-US" sz="1400" smtClean="0"/>
              <a:t>AWS </a:t>
            </a:r>
            <a:r>
              <a:rPr lang="en-US" sz="1400"/>
              <a:t>Lambda functions receive event data in JSON format.</a:t>
            </a:r>
          </a:p>
          <a:p>
            <a:pPr marL="742950" lvl="1" indent="-285750">
              <a:buFont typeface="Arial" pitchFamily="34" charset="0"/>
              <a:buChar char="•"/>
            </a:pPr>
            <a:r>
              <a:rPr lang="en-US" sz="1400" smtClean="0"/>
              <a:t>The </a:t>
            </a:r>
            <a:r>
              <a:rPr lang="en-US" sz="1400"/>
              <a:t>structure and content depend on the event source (e.g., S3, DynamoDB, API Gateway).</a:t>
            </a:r>
          </a:p>
          <a:p>
            <a:endParaRPr lang="en-US" sz="1400"/>
          </a:p>
          <a:p>
            <a:r>
              <a:rPr lang="en-US" sz="1400" b="1" smtClean="0"/>
              <a:t>Common Fields</a:t>
            </a:r>
            <a:endParaRPr lang="en-US" sz="1400" b="1"/>
          </a:p>
          <a:p>
            <a:pPr lvl="1"/>
            <a:r>
              <a:rPr lang="en-US" sz="1400" smtClean="0"/>
              <a:t>Records : </a:t>
            </a:r>
            <a:r>
              <a:rPr lang="en-US" sz="1400"/>
              <a:t>Array of event records, common in S3, </a:t>
            </a:r>
            <a:r>
              <a:rPr lang="en-US" sz="1400" smtClean="0"/>
              <a:t>DynamoDB </a:t>
            </a:r>
            <a:r>
              <a:rPr lang="en-US" sz="1400"/>
              <a:t>and Kinesis events.</a:t>
            </a:r>
          </a:p>
          <a:p>
            <a:pPr lvl="1"/>
            <a:r>
              <a:rPr lang="en-US" sz="1400" smtClean="0"/>
              <a:t>eventSource : </a:t>
            </a:r>
            <a:r>
              <a:rPr lang="en-US" sz="1400"/>
              <a:t>Source of the event (e.g., `aws:s3`).</a:t>
            </a:r>
          </a:p>
          <a:p>
            <a:pPr lvl="1"/>
            <a:r>
              <a:rPr lang="en-US" sz="1400" smtClean="0"/>
              <a:t>eventName : </a:t>
            </a:r>
            <a:r>
              <a:rPr lang="en-US" sz="1400"/>
              <a:t>Type of event (e.g., `ObjectCreated:Put`).</a:t>
            </a:r>
          </a:p>
          <a:p>
            <a:endParaRPr lang="en-US" sz="1400"/>
          </a:p>
          <a:p>
            <a:r>
              <a:rPr lang="en-US" sz="1400" b="1" smtClean="0"/>
              <a:t>Example Sources</a:t>
            </a:r>
            <a:endParaRPr lang="en-US" sz="1400" b="1"/>
          </a:p>
          <a:p>
            <a:endParaRPr lang="en-US" sz="1400"/>
          </a:p>
          <a:p>
            <a:r>
              <a:rPr lang="en-US" sz="1400" smtClean="0"/>
              <a:t>1. S3 Event</a:t>
            </a:r>
          </a:p>
          <a:p>
            <a:pPr marL="742950" lvl="1" indent="-285750">
              <a:buFont typeface="Arial" pitchFamily="34" charset="0"/>
              <a:buChar char="•"/>
            </a:pPr>
            <a:r>
              <a:rPr lang="en-US" sz="1400" smtClean="0"/>
              <a:t>Triggered by changes in an S3 bucket. </a:t>
            </a:r>
          </a:p>
          <a:p>
            <a:pPr marL="742950" lvl="1" indent="-285750">
              <a:buFont typeface="Arial" pitchFamily="34" charset="0"/>
              <a:buChar char="•"/>
            </a:pPr>
            <a:r>
              <a:rPr lang="en-US" sz="1400" smtClean="0"/>
              <a:t>Includes details about the bucket and object (e.g., name, key, size).</a:t>
            </a:r>
          </a:p>
          <a:p>
            <a:endParaRPr lang="en-US" sz="1400"/>
          </a:p>
          <a:p>
            <a:r>
              <a:rPr lang="en-US" sz="1400"/>
              <a:t>2. </a:t>
            </a:r>
            <a:r>
              <a:rPr lang="en-US" sz="1400" smtClean="0"/>
              <a:t>API </a:t>
            </a:r>
            <a:r>
              <a:rPr lang="en-US" sz="1400"/>
              <a:t>Gateway </a:t>
            </a:r>
            <a:r>
              <a:rPr lang="en-US" sz="1400" smtClean="0"/>
              <a:t>Event</a:t>
            </a:r>
            <a:endParaRPr lang="en-US" sz="1400"/>
          </a:p>
          <a:p>
            <a:pPr marL="742950" lvl="1" indent="-285750">
              <a:buFont typeface="Arial" pitchFamily="34" charset="0"/>
              <a:buChar char="•"/>
            </a:pPr>
            <a:r>
              <a:rPr lang="en-US" sz="1400" smtClean="0"/>
              <a:t>Triggered </a:t>
            </a:r>
            <a:r>
              <a:rPr lang="en-US" sz="1400"/>
              <a:t>by HTTP requests to API </a:t>
            </a:r>
            <a:r>
              <a:rPr lang="en-US" sz="1400" smtClean="0"/>
              <a:t>Gateway. </a:t>
            </a:r>
          </a:p>
          <a:p>
            <a:pPr marL="742950" lvl="1" indent="-285750">
              <a:buFont typeface="Arial" pitchFamily="34" charset="0"/>
              <a:buChar char="•"/>
            </a:pPr>
            <a:r>
              <a:rPr lang="en-US" sz="1400" smtClean="0"/>
              <a:t>Includes </a:t>
            </a:r>
            <a:r>
              <a:rPr lang="en-US" sz="1400"/>
              <a:t>HTTP method, headers, query parameters, and body.</a:t>
            </a:r>
          </a:p>
          <a:p>
            <a:endParaRPr lang="en-US" sz="1400"/>
          </a:p>
          <a:p>
            <a:r>
              <a:rPr lang="en-US" sz="1400" b="1" smtClean="0"/>
              <a:t>Key Points</a:t>
            </a:r>
            <a:endParaRPr lang="en-US" sz="1400" b="1"/>
          </a:p>
          <a:p>
            <a:pPr lvl="1"/>
            <a:r>
              <a:rPr lang="en-US" sz="1400" smtClean="0"/>
              <a:t>Event Source : </a:t>
            </a:r>
            <a:r>
              <a:rPr lang="en-US" sz="1400"/>
              <a:t>Determines the structure and content of the event JSON.</a:t>
            </a:r>
          </a:p>
          <a:p>
            <a:pPr lvl="1"/>
            <a:r>
              <a:rPr lang="en-US" sz="1400" smtClean="0"/>
              <a:t>S3 Events</a:t>
            </a:r>
            <a:r>
              <a:rPr lang="en-US" sz="1400"/>
              <a:t> </a:t>
            </a:r>
            <a:r>
              <a:rPr lang="en-US" sz="1400" smtClean="0"/>
              <a:t>: </a:t>
            </a:r>
            <a:r>
              <a:rPr lang="en-US" sz="1400"/>
              <a:t>Contain bucket and object details.</a:t>
            </a:r>
          </a:p>
          <a:p>
            <a:pPr lvl="1"/>
            <a:r>
              <a:rPr lang="en-US" sz="1400" smtClean="0"/>
              <a:t>API </a:t>
            </a:r>
            <a:r>
              <a:rPr lang="en-US" sz="1400"/>
              <a:t>Gateway </a:t>
            </a:r>
            <a:r>
              <a:rPr lang="en-US" sz="1400" smtClean="0"/>
              <a:t>Events : </a:t>
            </a:r>
            <a:r>
              <a:rPr lang="en-US" sz="1400"/>
              <a:t>Contain HTTP request details</a:t>
            </a:r>
            <a:r>
              <a:rPr lang="en-US" sz="1400" smtClean="0"/>
              <a:t>.</a:t>
            </a:r>
            <a:endParaRPr lang="en-US" sz="1400"/>
          </a:p>
        </p:txBody>
      </p:sp>
    </p:spTree>
    <p:extLst>
      <p:ext uri="{BB962C8B-B14F-4D97-AF65-F5344CB8AC3E}">
        <p14:creationId xmlns:p14="http://schemas.microsoft.com/office/powerpoint/2010/main" val="174190744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7467600" cy="655638"/>
          </a:xfrm>
        </p:spPr>
        <p:txBody>
          <a:bodyPr/>
          <a:lstStyle/>
          <a:p>
            <a:pPr algn="ctr"/>
            <a:r>
              <a:rPr lang="en-US" b="1" smtClean="0"/>
              <a:t>AWS CLOUDWATCH</a:t>
            </a:r>
            <a:endParaRPr lang="en-US" b="1"/>
          </a:p>
        </p:txBody>
      </p:sp>
      <p:sp>
        <p:nvSpPr>
          <p:cNvPr id="4" name="TextBox 3"/>
          <p:cNvSpPr txBox="1"/>
          <p:nvPr/>
        </p:nvSpPr>
        <p:spPr>
          <a:xfrm>
            <a:off x="609600" y="1447800"/>
            <a:ext cx="7848600" cy="4524315"/>
          </a:xfrm>
          <a:prstGeom prst="rect">
            <a:avLst/>
          </a:prstGeom>
          <a:noFill/>
        </p:spPr>
        <p:txBody>
          <a:bodyPr wrap="square" rtlCol="0">
            <a:spAutoFit/>
          </a:bodyPr>
          <a:lstStyle/>
          <a:p>
            <a:endParaRPr lang="en-US" sz="1600"/>
          </a:p>
          <a:p>
            <a:r>
              <a:rPr lang="en-US" sz="1600" b="1" smtClean="0"/>
              <a:t>Overview</a:t>
            </a:r>
            <a:endParaRPr lang="en-US" sz="1600" b="1"/>
          </a:p>
          <a:p>
            <a:r>
              <a:rPr lang="en-US" sz="1600" smtClean="0"/>
              <a:t>Monitoring </a:t>
            </a:r>
            <a:r>
              <a:rPr lang="en-US" sz="1600"/>
              <a:t>and management service for AWS resources and applications.</a:t>
            </a:r>
          </a:p>
          <a:p>
            <a:endParaRPr lang="en-US" sz="1600"/>
          </a:p>
          <a:p>
            <a:r>
              <a:rPr lang="en-US" sz="1600" b="1" smtClean="0"/>
              <a:t>Key Features</a:t>
            </a:r>
            <a:endParaRPr lang="en-US" sz="1600" b="1"/>
          </a:p>
          <a:p>
            <a:r>
              <a:rPr lang="en-US" sz="1600" smtClean="0"/>
              <a:t>Metrics: </a:t>
            </a:r>
            <a:r>
              <a:rPr lang="en-US" sz="1600"/>
              <a:t>Collects and tracks performance data.</a:t>
            </a:r>
          </a:p>
          <a:p>
            <a:r>
              <a:rPr lang="en-US" sz="1600" smtClean="0"/>
              <a:t>Logs: </a:t>
            </a:r>
            <a:r>
              <a:rPr lang="en-US" sz="1600"/>
              <a:t>Aggregates and monitors log files.</a:t>
            </a:r>
          </a:p>
          <a:p>
            <a:r>
              <a:rPr lang="en-US" sz="1600" smtClean="0"/>
              <a:t>Alarms: </a:t>
            </a:r>
            <a:r>
              <a:rPr lang="en-US" sz="1600"/>
              <a:t>Sends notifications or triggers actions </a:t>
            </a:r>
            <a:endParaRPr lang="en-US" sz="1600" smtClean="0"/>
          </a:p>
          <a:p>
            <a:r>
              <a:rPr lang="en-US" sz="1600" smtClean="0"/>
              <a:t>	based </a:t>
            </a:r>
            <a:r>
              <a:rPr lang="en-US" sz="1600"/>
              <a:t>on metrics.</a:t>
            </a:r>
          </a:p>
          <a:p>
            <a:r>
              <a:rPr lang="en-US" sz="1600" smtClean="0"/>
              <a:t>Dashboards: </a:t>
            </a:r>
            <a:r>
              <a:rPr lang="en-US" sz="1600"/>
              <a:t>Customizable visualizations of </a:t>
            </a:r>
            <a:endParaRPr lang="en-US" sz="1600" smtClean="0"/>
          </a:p>
          <a:p>
            <a:r>
              <a:rPr lang="en-US" sz="1600" smtClean="0"/>
              <a:t>	       metrics </a:t>
            </a:r>
            <a:r>
              <a:rPr lang="en-US" sz="1600"/>
              <a:t>and logs.</a:t>
            </a:r>
          </a:p>
          <a:p>
            <a:endParaRPr lang="en-US" sz="1600"/>
          </a:p>
          <a:p>
            <a:r>
              <a:rPr lang="en-US" sz="1600" b="1" smtClean="0"/>
              <a:t>Usage Examples</a:t>
            </a:r>
            <a:endParaRPr lang="en-US" sz="1600" b="1"/>
          </a:p>
          <a:p>
            <a:r>
              <a:rPr lang="en-US" sz="1600" smtClean="0"/>
              <a:t>Performance Monitoring: </a:t>
            </a:r>
            <a:r>
              <a:rPr lang="en-US" sz="1600"/>
              <a:t>Track EC2 instance performance.</a:t>
            </a:r>
          </a:p>
          <a:p>
            <a:r>
              <a:rPr lang="en-US" sz="1600" smtClean="0"/>
              <a:t>Resource Optimization: </a:t>
            </a:r>
            <a:r>
              <a:rPr lang="en-US" sz="1600"/>
              <a:t>Identify and optimize underutilized resources.</a:t>
            </a:r>
          </a:p>
          <a:p>
            <a:r>
              <a:rPr lang="en-US" sz="1600" smtClean="0"/>
              <a:t>Troubleshooting : </a:t>
            </a:r>
            <a:r>
              <a:rPr lang="en-US" sz="1600"/>
              <a:t>Gain insights from application logs.</a:t>
            </a:r>
          </a:p>
          <a:p>
            <a:r>
              <a:rPr lang="en-US" sz="1600" smtClean="0"/>
              <a:t>Automated Responses : </a:t>
            </a:r>
            <a:r>
              <a:rPr lang="en-US" sz="1600"/>
              <a:t>Trigger actions like scaling based on alarms</a:t>
            </a:r>
            <a:r>
              <a:rPr lang="en-US" sz="1600" smtClean="0"/>
              <a:t>.</a:t>
            </a:r>
            <a:endParaRPr lang="en-US" sz="1600"/>
          </a:p>
          <a:p>
            <a:endParaRPr lang="en-US" sz="1600"/>
          </a:p>
        </p:txBody>
      </p:sp>
      <p:pic>
        <p:nvPicPr>
          <p:cNvPr id="5" name="Picture 6"/>
          <p:cNvPicPr>
            <a:picLocks noChangeAspect="1" noChangeArrowheads="1"/>
          </p:cNvPicPr>
          <p:nvPr/>
        </p:nvPicPr>
        <p:blipFill rotWithShape="1">
          <a:blip r:embed="rId2">
            <a:extLst>
              <a:ext uri="{28A0092B-C50C-407E-A947-70E740481C1C}">
                <a14:useLocalDpi xmlns:a14="http://schemas.microsoft.com/office/drawing/2010/main" val="0"/>
              </a:ext>
            </a:extLst>
          </a:blip>
          <a:srcRect t="1691" b="1"/>
          <a:stretch/>
        </p:blipFill>
        <p:spPr bwMode="auto">
          <a:xfrm>
            <a:off x="5181600" y="2514600"/>
            <a:ext cx="3343656"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8766767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INPUT IMAGE</a:t>
            </a:r>
            <a:endParaRPr lang="en-US"/>
          </a:p>
        </p:txBody>
      </p:sp>
      <p:pic>
        <p:nvPicPr>
          <p:cNvPr id="1026" name="Picture 2" descr="E:\FUTURE\abROAD\SEMESTERS\Sem 2 summer 2\Intro to cloud\my project\recipt.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928813"/>
            <a:ext cx="6400800" cy="3000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889431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OUTPUT LOGS(json)</a:t>
            </a:r>
            <a:endParaRPr lang="en-US"/>
          </a:p>
        </p:txBody>
      </p:sp>
      <p:pic>
        <p:nvPicPr>
          <p:cNvPr id="4" name="Picture 2" descr="E:\FUTURE\abROAD\SEMESTERS\Sem 2 summer 2\Intro to cloud\my project\Screenshot (78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524000"/>
            <a:ext cx="7848600" cy="4824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069704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OUTPUT LOGS(json)</a:t>
            </a:r>
            <a:endParaRPr lang="en-US"/>
          </a:p>
        </p:txBody>
      </p:sp>
      <p:pic>
        <p:nvPicPr>
          <p:cNvPr id="3074" name="Picture 2" descr="E:\FUTURE\abROAD\SEMESTERS\Sem 2 summer 2\Intro to cloud\my project\Screenshot (785).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 y="1524000"/>
            <a:ext cx="7924800" cy="4457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088183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smtClean="0"/>
              <a:t>CONCLUSION</a:t>
            </a:r>
            <a:endParaRPr lang="en-US" b="1"/>
          </a:p>
        </p:txBody>
      </p:sp>
      <p:sp>
        <p:nvSpPr>
          <p:cNvPr id="3" name="TextBox 2"/>
          <p:cNvSpPr txBox="1"/>
          <p:nvPr/>
        </p:nvSpPr>
        <p:spPr>
          <a:xfrm>
            <a:off x="381000" y="1981200"/>
            <a:ext cx="8077200" cy="4524315"/>
          </a:xfrm>
          <a:prstGeom prst="rect">
            <a:avLst/>
          </a:prstGeom>
          <a:noFill/>
        </p:spPr>
        <p:txBody>
          <a:bodyPr wrap="square" rtlCol="0">
            <a:spAutoFit/>
          </a:bodyPr>
          <a:lstStyle/>
          <a:p>
            <a:pPr algn="just"/>
            <a:r>
              <a:rPr lang="en-US" sz="2400" smtClean="0"/>
              <a:t>	In </a:t>
            </a:r>
            <a:r>
              <a:rPr lang="en-US" sz="2400"/>
              <a:t>conclusion, our project </a:t>
            </a:r>
            <a:r>
              <a:rPr lang="en-US" sz="2400" smtClean="0"/>
              <a:t>focused </a:t>
            </a:r>
            <a:r>
              <a:rPr lang="en-US" sz="2400"/>
              <a:t>on developing </a:t>
            </a:r>
            <a:r>
              <a:rPr lang="en-US" sz="2400" smtClean="0"/>
              <a:t>an image conversion </a:t>
            </a:r>
            <a:r>
              <a:rPr lang="en-US" sz="2400"/>
              <a:t>solution using AWS Textract, offering a promising opportunity to streamline document processing workflows and unlock the value of unstructured data. By leveraging cloud-native services and serverless computing, we've crafted a scalable, efficient, and cost-effective solution to tackle the challenges inherent in manual data extraction </a:t>
            </a:r>
            <a:r>
              <a:rPr lang="en-US" sz="2400" smtClean="0"/>
              <a:t>from images</a:t>
            </a:r>
            <a:r>
              <a:rPr lang="en-US" sz="2400"/>
              <a:t>. With our solution, organizations can efficiently process documents, extract valuable insights, and expedite decision-making processes.</a:t>
            </a:r>
          </a:p>
          <a:p>
            <a:pPr algn="just"/>
            <a:endParaRPr lang="en-US" sz="2400"/>
          </a:p>
        </p:txBody>
      </p:sp>
    </p:spTree>
    <p:extLst>
      <p:ext uri="{BB962C8B-B14F-4D97-AF65-F5344CB8AC3E}">
        <p14:creationId xmlns:p14="http://schemas.microsoft.com/office/powerpoint/2010/main" val="99118100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295400" y="2590800"/>
            <a:ext cx="6601487" cy="1107996"/>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6600" b="1" cap="none" spc="5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Any Queries ? </a:t>
            </a:r>
            <a:endParaRPr lang="en-US" sz="6600" b="1" cap="none"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extLst>
      <p:ext uri="{BB962C8B-B14F-4D97-AF65-F5344CB8AC3E}">
        <p14:creationId xmlns:p14="http://schemas.microsoft.com/office/powerpoint/2010/main" val="361410439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747540" y="2743200"/>
            <a:ext cx="5833649" cy="1107996"/>
          </a:xfrm>
          <a:prstGeom prst="rect">
            <a:avLst/>
          </a:prstGeom>
          <a:noFill/>
        </p:spPr>
        <p:txBody>
          <a:bodyPr wrap="none" lIns="91440" tIns="45720" rIns="91440" bIns="45720">
            <a:spAutoFit/>
          </a:bodyPr>
          <a:lstStyle/>
          <a:p>
            <a:pPr algn="ctr"/>
            <a:r>
              <a:rPr lang="en-US" sz="6600" b="1" cap="none" spc="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outerShdw blurRad="38100" dist="38100" dir="2700000" algn="tl">
                    <a:srgbClr val="000000">
                      <a:alpha val="43137"/>
                    </a:srgbClr>
                  </a:outerShdw>
                </a:effectLst>
              </a:rPr>
              <a:t>THANK YOU</a:t>
            </a:r>
            <a:endParaRPr lang="en-US" sz="6600" b="1" cap="none" spc="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13557660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412</TotalTime>
  <Words>797</Words>
  <Application>Microsoft Office PowerPoint</Application>
  <PresentationFormat>On-screen Show (4:3)</PresentationFormat>
  <Paragraphs>136</Paragraphs>
  <Slides>18</Slides>
  <Notes>2</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Oriel</vt:lpstr>
      <vt:lpstr>Conversion of an image into json file using aws textract</vt:lpstr>
      <vt:lpstr>CONTENTS</vt:lpstr>
      <vt:lpstr>1. INTRODUCTION</vt:lpstr>
      <vt:lpstr>Architecture overview</vt:lpstr>
      <vt:lpstr>2. AWS services used</vt:lpstr>
      <vt:lpstr>S3 bucket</vt:lpstr>
      <vt:lpstr>AWS LAMBDA</vt:lpstr>
      <vt:lpstr>Aws textract</vt:lpstr>
      <vt:lpstr>Use cases of textract</vt:lpstr>
      <vt:lpstr>Use cases of textract</vt:lpstr>
      <vt:lpstr>EVENT JSON FOR AWS LAMBDA</vt:lpstr>
      <vt:lpstr>AWS CLOUDWATCH</vt:lpstr>
      <vt:lpstr>INPUT IMAGE</vt:lpstr>
      <vt:lpstr>OUTPUT LOGS(json)</vt:lpstr>
      <vt:lpstr>OUTPUT LOGS(json)</vt:lpstr>
      <vt:lpstr>CONCLUSION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Conversion of pdf/image to json/csv file using aws textract</dc:title>
  <dc:creator>ps pk</dc:creator>
  <cp:lastModifiedBy>ps pk</cp:lastModifiedBy>
  <cp:revision>186</cp:revision>
  <dcterms:created xsi:type="dcterms:W3CDTF">2024-07-26T01:33:34Z</dcterms:created>
  <dcterms:modified xsi:type="dcterms:W3CDTF">2024-07-30T23:58:03Z</dcterms:modified>
</cp:coreProperties>
</file>